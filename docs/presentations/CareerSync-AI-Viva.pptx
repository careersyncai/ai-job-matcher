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72600" y="137160"/>
            <a:ext cx="2103120" cy="2103120"/>
          </a:xfrm>
          <a:prstGeom prst="blockArc">
            <a:avLst>
              <a:gd name="adj1" fmla="val 360000"/>
              <a:gd name="adj2" fmla="val 5040000"/>
              <a:gd name="adj3" fmla="val 17000"/>
            </a:avLst>
          </a:prstGeom>
          <a:solidFill>
            <a:srgbClr val="0EA5A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137160"/>
            <a:ext cx="2103120" cy="2103120"/>
          </a:xfrm>
          <a:prstGeom prst="blockArc">
            <a:avLst>
              <a:gd name="adj1" fmla="val 5760000"/>
              <a:gd name="adj2" fmla="val 10440000"/>
              <a:gd name="adj3" fmla="val 17000"/>
            </a:avLst>
          </a:prstGeom>
          <a:solidFill>
            <a:srgbClr val="4F5FE8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72600" y="137160"/>
            <a:ext cx="2103120" cy="2103120"/>
          </a:xfrm>
          <a:prstGeom prst="blockArc">
            <a:avLst>
              <a:gd name="adj1" fmla="val 11160000"/>
              <a:gd name="adj2" fmla="val 15840000"/>
              <a:gd name="adj3" fmla="val 17000"/>
            </a:avLst>
          </a:prstGeom>
          <a:solidFill>
            <a:srgbClr val="D4A24C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137160"/>
            <a:ext cx="2103120" cy="2103120"/>
          </a:xfrm>
          <a:prstGeom prst="blockArc">
            <a:avLst>
              <a:gd name="adj1" fmla="val 16560000"/>
              <a:gd name="adj2" fmla="val 21240000"/>
              <a:gd name="adj3" fmla="val 17000"/>
            </a:avLst>
          </a:prstGeom>
          <a:solidFill>
            <a:srgbClr val="2A3555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5TH SEMESTER SOFTWARE GROUP PROJECT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CareerSync </a:t>
            </a:r>
            <a:pPr indent="0" marL="0">
              <a:buNone/>
            </a:pPr>
            <a:r>
              <a:rPr lang="en-US" sz="54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Brings Your Fit Into Focus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Candidate Ranking with Explainable, Evidence-Backed Evaluation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881360" cy="0"/>
          </a:xfrm>
          <a:prstGeom prst="line">
            <a:avLst/>
          </a:prstGeom>
          <a:noFill/>
          <a:ln w="12700">
            <a:solidFill>
              <a:srgbClr val="263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</a:t>
            </a:r>
            <a:pPr indent="0" marL="0">
              <a:buNone/>
            </a:pPr>
            <a:r>
              <a:rPr lang="en-US" sz="135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CHARUSAT University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2542032" cy="868680"/>
          </a:xfrm>
          <a:prstGeom prst="roundRect">
            <a:avLst>
              <a:gd name="adj" fmla="val 9474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566928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4" name="Image 0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3602" y="5779922"/>
            <a:ext cx="281635" cy="28163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5486400"/>
            <a:ext cx="1581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46704" y="5486400"/>
            <a:ext cx="2542032" cy="868680"/>
          </a:xfrm>
          <a:prstGeom prst="roundRect">
            <a:avLst>
              <a:gd name="adj" fmla="val 9474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9584" y="5669280"/>
            <a:ext cx="502920" cy="502920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18" name="Image 1" descr="C:\Users\Hit\Desktop\SGP 5TH Sem\AI-Job-Matcher\careersync-ppt\icon_ey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0226" y="5779922"/>
            <a:ext cx="281635" cy="28163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69664" y="5486400"/>
            <a:ext cx="1581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53328" y="5486400"/>
            <a:ext cx="2542032" cy="868680"/>
          </a:xfrm>
          <a:prstGeom prst="roundRect">
            <a:avLst>
              <a:gd name="adj" fmla="val 9474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566928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22" name="Image 2" descr="C:\Users\Hit\Desktop\SGP 5TH Sem\AI-Job-Matcher\careersync-ppt\icon_users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6850" y="5779922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76288" y="5486400"/>
            <a:ext cx="1581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759952" y="5486400"/>
            <a:ext cx="2542032" cy="868680"/>
          </a:xfrm>
          <a:prstGeom prst="roundRect">
            <a:avLst>
              <a:gd name="adj" fmla="val 9474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942832" y="5669280"/>
            <a:ext cx="502920" cy="502920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26" name="Image 3" descr="C:\Users\Hit\Desktop\SGP 5TH Sem\AI-Job-Matcher\careersync-ppt\icon_shield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53474" y="577992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82912" y="5486400"/>
            <a:ext cx="1581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Privacy-Aware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Recruitment Challenge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2374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27000" dist="50800" dir="5400000">
              <a:srgbClr val="1B234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73936"/>
            <a:ext cx="566928" cy="566928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6" name="Image 0" descr="C:\Users\Hit\Desktop\SGP 5TH Sem\AI-Job-Matcher\careersync-ppt\icon_layer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6047" y="1901495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6888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Screening Volume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46704" y="1554480"/>
            <a:ext cx="252374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27000" dist="50800" dir="5400000">
              <a:srgbClr val="1B234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25112" y="1773936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0" name="Image 1" descr="C:\Users\Hit\Desktop\SGP 5TH Sem\AI-Job-Matcher\careersync-ppt\icon_cloc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2671" y="1901495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46888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53328" y="1554480"/>
            <a:ext cx="252374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27000" dist="50800" dir="5400000">
              <a:srgbClr val="1B234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31736" y="1773936"/>
            <a:ext cx="566928" cy="56692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4" name="Image 2" descr="C:\Users\Hit\Desktop\SGP 5TH Sem\AI-Job-Matcher\careersync-ppt\icon_eye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9295" y="1901495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1344" y="246888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Ranking is Hard to Justify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759952" y="1554480"/>
            <a:ext cx="252374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27000" dist="50800" dir="5400000">
              <a:srgbClr val="1B234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38360" y="1773936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3" descr="C:\Users\Hit\Desktop\SGP 5TH Sem\AI-Job-Matcher\careersync-ppt\icon_shield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5919" y="1901495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87968" y="2468880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Needs Privacy-Aware Handling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LEADS TO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3794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22" name="Text 16"/>
          <p:cNvSpPr/>
          <p:nvPr/>
        </p:nvSpPr>
        <p:spPr>
          <a:xfrm>
            <a:off x="822960" y="3941064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Approach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43616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7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resume review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886200" y="41376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4343400" y="3794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26" name="Text 20"/>
          <p:cNvSpPr/>
          <p:nvPr/>
        </p:nvSpPr>
        <p:spPr>
          <a:xfrm>
            <a:off x="4526280" y="3941064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Screening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4526280" y="43616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7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 standard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7589520" y="41376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8046720" y="37947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0" y="3941064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Hard to Defend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8229600" y="43616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7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trail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6F5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96112" y="5422392"/>
            <a:ext cx="548640" cy="54864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34" name="Image 4" descr="C:\Users\Hit\Desktop\SGP 5TH Sem\AI-Job-Matcher\careersync-ppt\icon_target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556" y="5545836"/>
            <a:ext cx="301752" cy="30175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00200" y="52578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 focuses on </a:t>
            </a:r>
            <a:pPr indent="0" marL="0">
              <a:buNone/>
            </a:pPr>
            <a:r>
              <a:rPr lang="en-US" sz="1400" b="1" dirty="0">
                <a:solidFill>
                  <a:srgbClr val="0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evidence-backed candidate evaluation.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CAREERSYNC AI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Platform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RECRUITER-DRIVEN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 +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</a:t>
            </a:r>
            <a:endParaRPr lang="en-US" sz="970" dirty="0"/>
          </a:p>
        </p:txBody>
      </p:sp>
      <p:sp>
        <p:nvSpPr>
          <p:cNvPr id="8" name="Text 6"/>
          <p:cNvSpPr/>
          <p:nvPr/>
        </p:nvSpPr>
        <p:spPr>
          <a:xfrm>
            <a:off x="1897380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7964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9404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71116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/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</a:t>
            </a:r>
            <a:endParaRPr lang="en-US" sz="970" dirty="0"/>
          </a:p>
        </p:txBody>
      </p:sp>
      <p:sp>
        <p:nvSpPr>
          <p:cNvPr id="12" name="Text 10"/>
          <p:cNvSpPr/>
          <p:nvPr/>
        </p:nvSpPr>
        <p:spPr>
          <a:xfrm>
            <a:off x="3255264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4613148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13732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5172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6884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971032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70" dirty="0"/>
          </a:p>
        </p:txBody>
      </p:sp>
      <p:sp>
        <p:nvSpPr>
          <p:cNvPr id="24" name="Text 22"/>
          <p:cNvSpPr/>
          <p:nvPr/>
        </p:nvSpPr>
        <p:spPr>
          <a:xfrm>
            <a:off x="7328916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29500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0940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02652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970" dirty="0"/>
          </a:p>
        </p:txBody>
      </p:sp>
      <p:sp>
        <p:nvSpPr>
          <p:cNvPr id="28" name="Text 26"/>
          <p:cNvSpPr/>
          <p:nvPr/>
        </p:nvSpPr>
        <p:spPr>
          <a:xfrm>
            <a:off x="8686800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87384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121A2E"/>
          </a:solidFill>
          <a:ln w="15875">
            <a:solidFill>
              <a:srgbClr val="263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78824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0536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10044684" y="2295144"/>
            <a:ext cx="11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45268" y="1737360"/>
            <a:ext cx="1275588" cy="1371600"/>
          </a:xfrm>
          <a:prstGeom prst="roundRect">
            <a:avLst>
              <a:gd name="adj" fmla="val 4301"/>
            </a:avLst>
          </a:prstGeom>
          <a:solidFill>
            <a:srgbClr val="0EA5A0"/>
          </a:solidFill>
          <a:ln w="15875">
            <a:solidFill>
              <a:srgbClr val="0EA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36708" y="1810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218420" y="2103120"/>
            <a:ext cx="11292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7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640080" y="3520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ROLES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84048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" y="4078224"/>
            <a:ext cx="566928" cy="566928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39" name="Image 0" descr="C:\Users\Hit\Desktop\SGP 5TH Sem\AI-Job-Matcher\careersync-ppt\icon_briefcas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383" y="4205783"/>
            <a:ext cx="311810" cy="31181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600200" y="4023360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600200" y="4389120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jobs, sets weighted requirements, reviews ranked candidates, inspects evidence, makes the final decision.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90488" y="384048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28232" y="4078224"/>
            <a:ext cx="566928" cy="566928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44" name="Image 1" descr="C:\Users\Hit\Desktop\SGP 5TH Sem\AI-Job-Matcher\careersync-ppt\icon_user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5791" y="4205783"/>
            <a:ext cx="311810" cy="31181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150608" y="4023360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Applicant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7150608" y="4389120"/>
            <a:ext cx="4142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profile, uploads a resume, applies to roles, and tracks application status.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40080" y="539496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1A2340"/>
          </a:solidFill>
          <a:ln w="12700">
            <a:solidFill>
              <a:srgbClr val="2A345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68680" y="5513832"/>
            <a:ext cx="475488" cy="475488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49" name="Image 2" descr="C:\Users\Hit\Desktop\SGP 5TH Sem\AI-Job-Matcher\careersync-ppt\icon_settings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3287" y="5618439"/>
            <a:ext cx="266273" cy="266273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1508760" y="5394960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</a:t>
            </a:r>
            <a:pPr indent="0" marL="0">
              <a:buNone/>
            </a:pPr>
            <a:r>
              <a:rPr lang="en-US" sz="1250" dirty="0">
                <a:solidFill>
                  <a:srgbClr val="97A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Platform operations, access &amp; role management, audit visibility</a:t>
            </a:r>
            <a:endParaRPr lang="en-US" sz="1250" dirty="0"/>
          </a:p>
        </p:txBody>
      </p:sp>
      <p:sp>
        <p:nvSpPr>
          <p:cNvPr id="51" name="Text 46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4F5FE8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512064" cy="512064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6" name="Image 0" descr="C:\Users\Hit\Desktop\SGP 5TH Sem\AI-Job-Matcher\careersync-ppt\icon_layer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174" y="1761134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9616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99616" y="1929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 · Applicant Portal · Admin Console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675120" y="1508760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/ React / TypeScript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414016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EA5A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2551176"/>
            <a:ext cx="512064" cy="512064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2" name="Image 1" descr="C:\Users\Hit\Desktop\SGP 5TH Sem\AI-Job-Matcher\careersync-ppt\icon_loc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174" y="2666390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99616" y="25054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Security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499616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authorization, request handling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75120" y="2414016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· Pydantic · JWT · RBAC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319272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D4A24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456432"/>
            <a:ext cx="512064" cy="512064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8" name="Image 2" descr="C:\Users\Hit\Desktop\SGP 5TH Sem\AI-Job-Matcher\careersync-ppt\icon_clock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174" y="3571646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99616" y="34107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Layer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499616" y="37398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asynchronous task execution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675120" y="3319272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4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· Celery Workers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4224528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361688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3" descr="C:\Users\Hit\Desktop\SGP 5TH Sem\AI-Job-Matcher\careersync-ppt\icon_cpu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8174" y="447690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99616" y="43159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NLP Layer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1499616" y="4645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normalization, semantic retrieval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675120" y="4224528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Docling · GLiNER · RapidFuzz · BGE-M3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5129784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7780">
            <a:solidFill>
              <a:srgbClr val="0A7A7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22960" y="5266944"/>
            <a:ext cx="512064" cy="512064"/>
          </a:xfrm>
          <a:prstGeom prst="ellipse">
            <a:avLst/>
          </a:prstGeom>
          <a:solidFill>
            <a:srgbClr val="0A7A76"/>
          </a:solidFill>
          <a:ln/>
        </p:spPr>
      </p:sp>
      <p:pic>
        <p:nvPicPr>
          <p:cNvPr id="30" name="Image 4" descr="C:\Users\Hit\Desktop\SGP 5TH Sem\AI-Job-Matcher\careersync-ppt\icon_database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8174" y="5382158"/>
            <a:ext cx="281635" cy="28163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99616" y="52212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1499616" y="5550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&amp; vector search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675120" y="5129784"/>
            <a:ext cx="4572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7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· pgvector · Object Storage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0080" y="6172200"/>
            <a:ext cx="10881360" cy="566928"/>
          </a:xfrm>
          <a:prstGeom prst="roundRect">
            <a:avLst>
              <a:gd name="adj" fmla="val 50000"/>
            </a:avLst>
          </a:prstGeom>
          <a:solidFill>
            <a:srgbClr val="0F1729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" y="617220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 →  API  →  Processing / NLP  →  Retrieval  →  Scoring  →  Database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NLP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NLP and Semantic Retrieval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048256" cy="3063240"/>
          </a:xfrm>
          <a:prstGeom prst="roundRect">
            <a:avLst>
              <a:gd name="adj" fmla="val 3571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9110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53312" y="2286000"/>
            <a:ext cx="621792" cy="62179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7" name="Image 0" descr="C:\Users\Hit\Desktop\SGP 5TH Sem\AI-Job-Matcher\careersync-ppt\icon_fi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2542" y="2435230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04495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Processing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" y="356616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PDF/DOCX → structured text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749808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0" y="3186684"/>
            <a:ext cx="256032" cy="256032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0" y="31592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07208" y="1783080"/>
            <a:ext cx="2048256" cy="3063240"/>
          </a:xfrm>
          <a:prstGeom prst="roundRect">
            <a:avLst>
              <a:gd name="adj" fmla="val 3571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53512" y="19110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20440" y="2286000"/>
            <a:ext cx="621792" cy="621792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16" name="Image 1" descr="C:\Users\Hit\Desktop\SGP 5TH Sem\AI-Job-Matcher\careersync-ppt\icon_search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9670" y="2435230"/>
            <a:ext cx="323332" cy="3233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35224" y="304495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Extraction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35224" y="356616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education, experience, roles</a:t>
            </a:r>
            <a:endParaRPr lang="en-US" sz="870" dirty="0"/>
          </a:p>
        </p:txBody>
      </p:sp>
      <p:sp>
        <p:nvSpPr>
          <p:cNvPr id="19" name="Text 15"/>
          <p:cNvSpPr/>
          <p:nvPr/>
        </p:nvSpPr>
        <p:spPr>
          <a:xfrm>
            <a:off x="2916936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GLiNER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27448" y="3186684"/>
            <a:ext cx="256032" cy="256032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27448" y="31592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74336" y="1783080"/>
            <a:ext cx="2048256" cy="3063240"/>
          </a:xfrm>
          <a:prstGeom prst="roundRect">
            <a:avLst>
              <a:gd name="adj" fmla="val 3571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19110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687568" y="2286000"/>
            <a:ext cx="621792" cy="621792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25" name="Image 2" descr="C:\Users\Hit\Desktop\SGP 5TH Sem\AI-Job-Matcher\careersync-ppt\icon_layers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6798" y="2435230"/>
            <a:ext cx="323332" cy="3233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02352" y="304495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Normalization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102352" y="356616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→ canonical skill form</a:t>
            </a:r>
            <a:endParaRPr lang="en-US" sz="870" dirty="0"/>
          </a:p>
        </p:txBody>
      </p:sp>
      <p:sp>
        <p:nvSpPr>
          <p:cNvPr id="28" name="Text 23"/>
          <p:cNvSpPr/>
          <p:nvPr/>
        </p:nvSpPr>
        <p:spPr>
          <a:xfrm>
            <a:off x="5084064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2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RapidFuzz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894576" y="3186684"/>
            <a:ext cx="256032" cy="256032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894576" y="31592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141464" y="1783080"/>
            <a:ext cx="2048256" cy="3063240"/>
          </a:xfrm>
          <a:prstGeom prst="roundRect">
            <a:avLst>
              <a:gd name="adj" fmla="val 3571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287768" y="19110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7854696" y="2286000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3" descr="C:\Users\Hit\Desktop\SGP 5TH Sem\AI-Job-Matcher\careersync-ppt\icon_database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3926" y="2435230"/>
            <a:ext cx="323332" cy="3233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269480" y="304495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+ Retrieval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269480" y="356616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→ relevant evidence</a:t>
            </a:r>
            <a:endParaRPr lang="en-US" sz="870" dirty="0"/>
          </a:p>
        </p:txBody>
      </p:sp>
      <p:sp>
        <p:nvSpPr>
          <p:cNvPr id="37" name="Text 31"/>
          <p:cNvSpPr/>
          <p:nvPr/>
        </p:nvSpPr>
        <p:spPr>
          <a:xfrm>
            <a:off x="7251192" y="4462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BGE-M3 · pgvector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9061704" y="3186684"/>
            <a:ext cx="256032" cy="256032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061704" y="31592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308592" y="1783080"/>
            <a:ext cx="2048256" cy="3063240"/>
          </a:xfrm>
          <a:prstGeom prst="roundRect">
            <a:avLst>
              <a:gd name="adj" fmla="val 3571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454896" y="19110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10021824" y="2286000"/>
            <a:ext cx="621792" cy="621792"/>
          </a:xfrm>
          <a:prstGeom prst="ellipse">
            <a:avLst/>
          </a:prstGeom>
          <a:solidFill>
            <a:srgbClr val="1FA971"/>
          </a:solidFill>
          <a:ln/>
        </p:spPr>
      </p:sp>
      <p:pic>
        <p:nvPicPr>
          <p:cNvPr id="43" name="Image 4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71054" y="2435230"/>
            <a:ext cx="323332" cy="32333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436608" y="3044952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Output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9436608" y="3566160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A6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snippets → scoring engine</a:t>
            </a:r>
            <a:endParaRPr lang="en-US" sz="870" dirty="0"/>
          </a:p>
        </p:txBody>
      </p:sp>
      <p:sp>
        <p:nvSpPr>
          <p:cNvPr id="46" name="Shape 39"/>
          <p:cNvSpPr/>
          <p:nvPr/>
        </p:nvSpPr>
        <p:spPr>
          <a:xfrm>
            <a:off x="640080" y="51206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6233F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896112" y="5239512"/>
            <a:ext cx="530352" cy="53035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48" name="Image 5" descr="C:\Users\Hit\Desktop\SGP 5TH Sem\AI-Job-Matcher\careersync-ppt\icon_eye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5441" y="5358841"/>
            <a:ext cx="291694" cy="29169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572768" y="512064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evidence extraction and retrieval. </a:t>
            </a:r>
            <a:pPr indent="0" marL="0">
              <a:buNone/>
            </a:pPr>
            <a:r>
              <a:rPr lang="en-US" sz="13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 the deterministic ranking rules.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Scoring and Transparent Ranking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F172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Score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(W</a:t>
            </a:r>
            <a:pPr indent="0" marL="0">
              <a:buNone/>
            </a:pPr>
            <a:r>
              <a:rPr lang="en-US" sz="120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Skill Score) + (W</a:t>
            </a:r>
            <a:pPr indent="0" marL="0">
              <a:buNone/>
            </a:pPr>
            <a:r>
              <a:rPr lang="en-US" sz="120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Experience Score) + (W</a:t>
            </a:r>
            <a:pPr indent="0" marL="0">
              <a:buNone/>
            </a:pPr>
            <a:r>
              <a:rPr lang="en-US" sz="120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Education Score) + (W</a:t>
            </a:r>
            <a:pPr indent="0" marL="0">
              <a:buNone/>
            </a:pPr>
            <a:r>
              <a:rPr lang="en-US" sz="120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</a:t>
            </a:r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Semantic Score)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825496"/>
            <a:ext cx="548640" cy="54864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8" name="Image 0" descr="C:\Users\Hit\Desktop\SGP 5TH Sem\AI-Job-Matcher\careersync-ppt\icon_targe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404" y="2948940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9616" y="260604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419856" y="26060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2736" y="2825496"/>
            <a:ext cx="548640" cy="548640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12" name="Image 1" descr="C:\Users\Hit\Desktop\SGP 5TH Sem\AI-Job-Matcher\careersync-ppt\icon_briefcas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6180" y="294894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79392" y="260604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99632" y="26060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82512" y="2825496"/>
            <a:ext cx="548640" cy="54864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6" name="Image 2" descr="C:\Users\Hit\Desktop\SGP 5TH Sem\AI-Job-Matcher\careersync-ppt\icon_layers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5956" y="2948940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9168" y="260604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979408" y="2606040"/>
            <a:ext cx="259689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62288" y="2825496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3" descr="C:\Users\Hit\Desktop\SGP 5TH Sem\AI-Job-Matcher\careersync-ppt\icon_search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85732" y="2948940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38944" y="2606040"/>
            <a:ext cx="1591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40080" y="379476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68096" y="3895344"/>
            <a:ext cx="301752" cy="30175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24" name="Image 4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446" y="3955694"/>
            <a:ext cx="181051" cy="18105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794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recruiter-controlled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172200" y="379476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300216" y="3895344"/>
            <a:ext cx="301752" cy="30175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28" name="Image 5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0566" y="3955694"/>
            <a:ext cx="181051" cy="18105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20840" y="3794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sum to exactly 100%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40080" y="44348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68096" y="4535424"/>
            <a:ext cx="301752" cy="30175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32" name="Image 6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8446" y="4595774"/>
            <a:ext cx="181051" cy="18105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8872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+ same weights → reproducible score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172200" y="4434840"/>
            <a:ext cx="5349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300216" y="4535424"/>
            <a:ext cx="301752" cy="30175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36" name="Image 7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60566" y="4595774"/>
            <a:ext cx="181051" cy="181051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72084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supports each scoring component</a:t>
            </a:r>
            <a:endParaRPr lang="en-US" sz="1150" dirty="0"/>
          </a:p>
        </p:txBody>
      </p:sp>
      <p:sp>
        <p:nvSpPr>
          <p:cNvPr id="38" name="Text 28"/>
          <p:cNvSpPr/>
          <p:nvPr/>
        </p:nvSpPr>
        <p:spPr>
          <a:xfrm>
            <a:off x="64008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EXAMPLE — NOT MEASURED SYSTEM RESULTS</a:t>
            </a:r>
            <a:endParaRPr lang="en-US" sz="950" dirty="0"/>
          </a:p>
        </p:txBody>
      </p:sp>
      <p:sp>
        <p:nvSpPr>
          <p:cNvPr id="39" name="Shape 29"/>
          <p:cNvSpPr/>
          <p:nvPr/>
        </p:nvSpPr>
        <p:spPr>
          <a:xfrm>
            <a:off x="640080" y="5193792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68680" y="51937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8595360" y="5248656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/>
        </p:spPr>
      </p:sp>
      <p:sp>
        <p:nvSpPr>
          <p:cNvPr id="42" name="Text 32"/>
          <p:cNvSpPr/>
          <p:nvPr/>
        </p:nvSpPr>
        <p:spPr>
          <a:xfrm>
            <a:off x="8595360" y="52486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10195560" y="51937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score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40080" y="5641848"/>
            <a:ext cx="10881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4E7EF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68680" y="564184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8595360" y="569671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EAF6F5"/>
          </a:solidFill>
          <a:ln/>
        </p:spPr>
      </p:sp>
      <p:sp>
        <p:nvSpPr>
          <p:cNvPr id="47" name="Text 37"/>
          <p:cNvSpPr/>
          <p:nvPr/>
        </p:nvSpPr>
        <p:spPr>
          <a:xfrm>
            <a:off x="8595360" y="5696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7A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72%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10195560" y="56418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score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Engineering Foundation and Current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2152" cy="3886200"/>
          </a:xfrm>
          <a:prstGeom prst="roundRect">
            <a:avLst>
              <a:gd name="adj" fmla="val 2089"/>
            </a:avLst>
          </a:prstGeom>
          <a:solidFill>
            <a:srgbClr val="121A2E"/>
          </a:solidFill>
          <a:ln w="17780">
            <a:solidFill>
              <a:srgbClr val="1FA9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502920" cy="502920"/>
          </a:xfrm>
          <a:prstGeom prst="ellipse">
            <a:avLst/>
          </a:prstGeom>
          <a:solidFill>
            <a:srgbClr val="1FA971"/>
          </a:solidFill>
          <a:ln/>
        </p:spPr>
      </p:sp>
      <p:pic>
        <p:nvPicPr>
          <p:cNvPr id="6" name="Image 0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1890" y="1820570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28216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377440"/>
            <a:ext cx="304495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management interface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 view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portal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theme &amp; motion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508760"/>
            <a:ext cx="3502152" cy="3886200"/>
          </a:xfrm>
          <a:prstGeom prst="roundRect">
            <a:avLst>
              <a:gd name="adj" fmla="val 2089"/>
            </a:avLst>
          </a:prstGeom>
          <a:solidFill>
            <a:srgbClr val="121A2E"/>
          </a:solidFill>
          <a:ln w="17780">
            <a:solidFill>
              <a:srgbClr val="D4A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709928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1" name="Image 1" descr="C:\Users\Hit\Desktop\SGP 5TH Sem\AI-Job-Matcher\careersync-ppt\icon_clock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922" y="18205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1728216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81144" y="2377440"/>
            <a:ext cx="304495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endpoints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 integration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 workers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implementation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integration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10144" y="1508760"/>
            <a:ext cx="3502152" cy="3886200"/>
          </a:xfrm>
          <a:prstGeom prst="roundRect">
            <a:avLst>
              <a:gd name="adj" fmla="val 2089"/>
            </a:avLst>
          </a:prstGeom>
          <a:solidFill>
            <a:srgbClr val="121A2E"/>
          </a:solidFill>
          <a:ln w="17780">
            <a:solidFill>
              <a:srgbClr val="4F5F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709928"/>
            <a:ext cx="502920" cy="502920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16" name="Image 2" descr="C:\Users\Hit\Desktop\SGP 5TH Sem\AI-Job-Matcher\careersync-ppt\icon_branch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1954" y="182057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33104" y="1728216"/>
            <a:ext cx="2496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/ NEXT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66176" y="2377440"/>
            <a:ext cx="3044952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testing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hardening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evaluation &amp; feedback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5778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SUPPORTING TECHNOLOGIES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 ·  React  ·  TypeScript  ·  FastAPI  ·  Python  ·  PostgreSQL  ·  Redis  ·  Celery  ·  Docling  ·  GLiNER  ·  RapidFuzz  ·  BGE-M3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4F5F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PHILOSOPHY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CareerSync AI: Evidence Before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1728216"/>
            <a:ext cx="621792" cy="62179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6" name="Image 0" descr="C:\Users\Hit\Desktop\SGP 5TH Sem\AI-Job-Matcher\careersync-ppt\icon_chec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3215" y="1868119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496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scoring rules make rankings reproducible.</a:t>
            </a:r>
            <a:endParaRPr lang="en-US" sz="970" dirty="0"/>
          </a:p>
        </p:txBody>
      </p:sp>
      <p:sp>
        <p:nvSpPr>
          <p:cNvPr id="9" name="Shape 6"/>
          <p:cNvSpPr/>
          <p:nvPr/>
        </p:nvSpPr>
        <p:spPr>
          <a:xfrm>
            <a:off x="2816352" y="150876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9584" y="1728216"/>
            <a:ext cx="621792" cy="621792"/>
          </a:xfrm>
          <a:prstGeom prst="ellipse">
            <a:avLst/>
          </a:prstGeom>
          <a:solidFill>
            <a:srgbClr val="4F5FE8"/>
          </a:solidFill>
          <a:ln/>
        </p:spPr>
      </p:sp>
      <p:pic>
        <p:nvPicPr>
          <p:cNvPr id="11" name="Image 1" descr="C:\Users\Hit\Desktop\SGP 5TH Sem\AI-Job-Matcher\careersync-ppt\icon_eye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9487" y="1868119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26080" y="2496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53512" y="2880360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connect back to supporting resume evidence.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4992624" y="150876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05856" y="1728216"/>
            <a:ext cx="621792" cy="621792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6" name="Image 2" descr="C:\Users\Hit\Desktop\SGP 5TH Sem\AI-Job-Matcher\careersync-ppt\icon_shield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5759" y="1868119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02352" y="2496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Privacy-Aware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29784" y="2880360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candidate information is handled deliberately.</a:t>
            </a:r>
            <a:endParaRPr lang="en-US" sz="970" dirty="0"/>
          </a:p>
        </p:txBody>
      </p:sp>
      <p:sp>
        <p:nvSpPr>
          <p:cNvPr id="19" name="Shape 14"/>
          <p:cNvSpPr/>
          <p:nvPr/>
        </p:nvSpPr>
        <p:spPr>
          <a:xfrm>
            <a:off x="7168896" y="150876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82128" y="1728216"/>
            <a:ext cx="621792" cy="62179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C:\Users\Hit\Desktop\SGP 5TH Sem\AI-Job-Matcher\careersync-ppt\icon_activity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2031" y="1868119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78624" y="2496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06056" y="2880360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actions and decisions can be recorded for accountability.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9345168" y="150876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58400" y="1728216"/>
            <a:ext cx="621792" cy="621792"/>
          </a:xfrm>
          <a:prstGeom prst="ellipse">
            <a:avLst/>
          </a:prstGeom>
          <a:solidFill>
            <a:srgbClr val="1FA971"/>
          </a:solidFill>
          <a:ln/>
        </p:spPr>
      </p:sp>
      <p:pic>
        <p:nvPicPr>
          <p:cNvPr id="26" name="Image 4" descr="C:\Users\Hit\Desktop\SGP 5TH Sem\AI-Job-Matcher\careersync-ppt\icon_users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8303" y="1868119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54896" y="2496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482328" y="2880360"/>
            <a:ext cx="177393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the recruiter; the recruiter retains final authority.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640080" y="42519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0F1729"/>
          </a:solidFill>
          <a:ln/>
        </p:spPr>
      </p:sp>
      <p:sp>
        <p:nvSpPr>
          <p:cNvPr id="30" name="Text 23"/>
          <p:cNvSpPr/>
          <p:nvPr/>
        </p:nvSpPr>
        <p:spPr>
          <a:xfrm>
            <a:off x="91440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CENTRAL PRINCIPLE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914400" y="4800600"/>
            <a:ext cx="3063240" cy="777240"/>
          </a:xfrm>
          <a:prstGeom prst="roundRect">
            <a:avLst>
              <a:gd name="adj" fmla="val 49412"/>
            </a:avLst>
          </a:prstGeom>
          <a:solidFill>
            <a:srgbClr val="121A2E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14400" y="4800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retrieval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3977640" y="50246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4343400" y="4800600"/>
            <a:ext cx="3063240" cy="777240"/>
          </a:xfrm>
          <a:prstGeom prst="roundRect">
            <a:avLst>
              <a:gd name="adj" fmla="val 49412"/>
            </a:avLst>
          </a:prstGeom>
          <a:solidFill>
            <a:srgbClr val="121A2E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343400" y="4800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calculate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7406640" y="50246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7772400" y="4800600"/>
            <a:ext cx="3063240" cy="777240"/>
          </a:xfrm>
          <a:prstGeom prst="roundRect">
            <a:avLst>
              <a:gd name="adj" fmla="val 49412"/>
            </a:avLst>
          </a:prstGeom>
          <a:solidFill>
            <a:srgbClr val="0EA5A0"/>
          </a:solidFill>
          <a:ln w="15875">
            <a:solidFill>
              <a:srgbClr val="0EA5A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772400" y="48006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makes the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CareerSync AI Contributes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6022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6" name="Image 0" descr="C:\Users\Hit\Desktop\SGP 5TH Sem\AI-Job-Matcher\careersync-ppt\icon_fi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117" y="18733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55448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unstructured resumes into structured evidence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55080" y="176022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0" name="Image 1" descr="C:\Users\Hit\Desktop\SGP 5TH Sem\AI-Job-Matcher\careersync-ppt\icon_search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8237" y="187337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13448" y="155448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semantic retrieval to find relevant candidate evidence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265176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285750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4" name="Image 2" descr="C:\Users\Hit\Desktop\SGP 5TH Sem\AI-Job-Matcher\careersync-ppt\icon_target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117" y="2970657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81328" y="26517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deterministic and explainable rankings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72200" y="2651760"/>
            <a:ext cx="5349240" cy="9144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6315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55080" y="285750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18" name="Image 3" descr="C:\Users\Hit\Desktop\SGP 5TH Sem\AI-Job-Matcher\careersync-ppt\icon_users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8237" y="297065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13448" y="26517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recruiter in control of the final decision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40080" y="37947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993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JOURNEY, END TO END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4114800"/>
            <a:ext cx="1965960" cy="91440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40080" y="4114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587752" y="4425696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2807208" y="4114800"/>
            <a:ext cx="1965960" cy="91440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807208" y="4114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754880" y="4425696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974336" y="4114800"/>
            <a:ext cx="1965960" cy="91440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974336" y="4114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922008" y="4425696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7141464" y="4114800"/>
            <a:ext cx="1965960" cy="914400"/>
          </a:xfrm>
          <a:prstGeom prst="roundRect">
            <a:avLst>
              <a:gd name="adj" fmla="val 50000"/>
            </a:avLst>
          </a:prstGeom>
          <a:solidFill>
            <a:srgbClr val="121A2E"/>
          </a:solidFill>
          <a:ln w="15875">
            <a:solidFill>
              <a:srgbClr val="3A456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141464" y="4114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9089136" y="4425696"/>
            <a:ext cx="237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308592" y="4114800"/>
            <a:ext cx="1965960" cy="914400"/>
          </a:xfrm>
          <a:prstGeom prst="roundRect">
            <a:avLst>
              <a:gd name="adj" fmla="val 50000"/>
            </a:avLst>
          </a:prstGeom>
          <a:solidFill>
            <a:srgbClr val="0EA5A0"/>
          </a:solidFill>
          <a:ln w="15875">
            <a:solidFill>
              <a:srgbClr val="0EA5A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308592" y="411480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6233F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CareerSync AI is designed to make candidate ranking more transparent, reproducible, and evidence-driven.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26280" y="594360"/>
            <a:ext cx="3108960" cy="3108960"/>
          </a:xfrm>
          <a:prstGeom prst="blockArc">
            <a:avLst>
              <a:gd name="adj1" fmla="val 360000"/>
              <a:gd name="adj2" fmla="val 5040000"/>
              <a:gd name="adj3" fmla="val 14000"/>
            </a:avLst>
          </a:prstGeom>
          <a:solidFill>
            <a:srgbClr val="0EA5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26280" y="594360"/>
            <a:ext cx="3108960" cy="3108960"/>
          </a:xfrm>
          <a:prstGeom prst="blockArc">
            <a:avLst>
              <a:gd name="adj1" fmla="val 5760000"/>
              <a:gd name="adj2" fmla="val 10440000"/>
              <a:gd name="adj3" fmla="val 14000"/>
            </a:avLst>
          </a:prstGeom>
          <a:solidFill>
            <a:srgbClr val="4F5FE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26280" y="594360"/>
            <a:ext cx="3108960" cy="3108960"/>
          </a:xfrm>
          <a:prstGeom prst="blockArc">
            <a:avLst>
              <a:gd name="adj1" fmla="val 11160000"/>
              <a:gd name="adj2" fmla="val 15840000"/>
              <a:gd name="adj3" fmla="val 14000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26280" y="594360"/>
            <a:ext cx="3108960" cy="3108960"/>
          </a:xfrm>
          <a:prstGeom prst="blockArc">
            <a:avLst>
              <a:gd name="adj1" fmla="val 16560000"/>
              <a:gd name="adj2" fmla="val 21240000"/>
              <a:gd name="adj3" fmla="val 14000"/>
            </a:avLst>
          </a:prstGeom>
          <a:solidFill>
            <a:srgbClr val="2A3555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0" y="260604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66360" y="4343400"/>
            <a:ext cx="1828800" cy="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5262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CareerSync AI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9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Semester Software Group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2026-08-15T05:13:09Z</dcterms:created>
  <dcterms:modified xsi:type="dcterms:W3CDTF">2026-08-15T05:13:09Z</dcterms:modified>
</cp:coreProperties>
</file>