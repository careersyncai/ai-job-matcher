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DM Sans Medium" pitchFamily="2" charset="0"/>
      <p:regular r:id="rId11"/>
    </p:embeddedFon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80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04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0066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CareerSync AI</a:t>
            </a:r>
            <a:endParaRPr lang="en-US" sz="4000" b="1" dirty="0">
              <a:solidFill>
                <a:srgbClr val="0066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2309118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600" b="1" u="sng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AI-Assisted Recruitment &amp; Candidate Matching Platform</a:t>
            </a:r>
            <a:endParaRPr lang="en-US" sz="1600" u="sng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5th Semester Software Group Project · B.Tech Information Technology · CHARUSAT University | 2026–27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3339207"/>
            <a:ext cx="10868745" cy="2178248"/>
          </a:xfrm>
          <a:prstGeom prst="roundRect">
            <a:avLst>
              <a:gd name="adj" fmla="val 1302"/>
            </a:avLst>
          </a:prstGeom>
          <a:solidFill>
            <a:srgbClr val="4C5052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339207"/>
            <a:ext cx="3622882" cy="1089124"/>
          </a:xfrm>
          <a:custGeom>
            <a:avLst/>
            <a:gdLst/>
            <a:ahLst/>
            <a:cxnLst/>
            <a:rect l="l" t="t" r="r" b="b"/>
            <a:pathLst>
              <a:path w="3622882" h="1089124">
                <a:moveTo>
                  <a:pt x="23627" y="0"/>
                </a:moveTo>
                <a:lnTo>
                  <a:pt x="3622882" y="0"/>
                </a:lnTo>
                <a:lnTo>
                  <a:pt x="3622882" y="1089124"/>
                </a:lnTo>
                <a:lnTo>
                  <a:pt x="0" y="1089124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352821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Explainable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0482" y="3936901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Evidence-backed evaluation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84357" y="3339207"/>
            <a:ext cx="3622882" cy="1089124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9" name="Shape 7"/>
          <p:cNvSpPr/>
          <p:nvPr/>
        </p:nvSpPr>
        <p:spPr>
          <a:xfrm>
            <a:off x="4284357" y="3339207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65696B"/>
          </a:solidFill>
          <a:ln/>
        </p:spPr>
      </p:sp>
      <p:sp>
        <p:nvSpPr>
          <p:cNvPr id="10" name="Text 8"/>
          <p:cNvSpPr/>
          <p:nvPr/>
        </p:nvSpPr>
        <p:spPr>
          <a:xfrm>
            <a:off x="4473364" y="352821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Deterministic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73364" y="3936901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 scoring rules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07239" y="3339207"/>
            <a:ext cx="3622882" cy="1089124"/>
          </a:xfrm>
          <a:custGeom>
            <a:avLst/>
            <a:gdLst/>
            <a:ahLst/>
            <a:cxnLst/>
            <a:rect l="l" t="t" r="r" b="b"/>
            <a:pathLst>
              <a:path w="3622882" h="1089124">
                <a:moveTo>
                  <a:pt x="0" y="0"/>
                </a:moveTo>
                <a:lnTo>
                  <a:pt x="3599255" y="0"/>
                </a:lnTo>
                <a:arcTo wR="23627" hR="23628" stAng="16200000" swAng="5400000"/>
                <a:lnTo>
                  <a:pt x="3622882" y="1089124"/>
                </a:lnTo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7239" y="3339207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65696B"/>
          </a:solidFill>
          <a:ln/>
        </p:spPr>
      </p:sp>
      <p:sp>
        <p:nvSpPr>
          <p:cNvPr id="14" name="Text 12"/>
          <p:cNvSpPr/>
          <p:nvPr/>
        </p:nvSpPr>
        <p:spPr>
          <a:xfrm>
            <a:off x="8096246" y="352821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Human-in-the-Loop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96246" y="3936901"/>
            <a:ext cx="32448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retains final authority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1475" y="4428331"/>
            <a:ext cx="5434273" cy="1089124"/>
          </a:xfrm>
          <a:custGeom>
            <a:avLst/>
            <a:gdLst/>
            <a:ahLst/>
            <a:cxnLst/>
            <a:rect l="l" t="t" r="r" b="b"/>
            <a:pathLst>
              <a:path w="5434273" h="1089124">
                <a:moveTo>
                  <a:pt x="0" y="0"/>
                </a:moveTo>
                <a:lnTo>
                  <a:pt x="5434273" y="0"/>
                </a:lnTo>
                <a:lnTo>
                  <a:pt x="5434273" y="1089124"/>
                </a:lnTo>
                <a:lnTo>
                  <a:pt x="23627" y="1089124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475" y="4428331"/>
            <a:ext cx="5434273" cy="254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8" name="Text 16"/>
          <p:cNvSpPr/>
          <p:nvPr/>
        </p:nvSpPr>
        <p:spPr>
          <a:xfrm>
            <a:off x="850482" y="4617343"/>
            <a:ext cx="50562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Privacy-Aware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482" y="5026025"/>
            <a:ext cx="50562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Mode &amp; controlled PII reveal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5748" y="4428331"/>
            <a:ext cx="5434373" cy="1089124"/>
          </a:xfrm>
          <a:custGeom>
            <a:avLst/>
            <a:gdLst/>
            <a:ahLst/>
            <a:cxnLst/>
            <a:rect l="l" t="t" r="r" b="b"/>
            <a:pathLst>
              <a:path w="5434373" h="1089124">
                <a:moveTo>
                  <a:pt x="0" y="0"/>
                </a:moveTo>
                <a:lnTo>
                  <a:pt x="5434373" y="0"/>
                </a:lnTo>
                <a:lnTo>
                  <a:pt x="5434373" y="1065496"/>
                </a:lnTo>
                <a:arcTo wR="23627" hR="23628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748" y="4428331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65696B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748" y="4428331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23" name="Text 21"/>
          <p:cNvSpPr/>
          <p:nvPr/>
        </p:nvSpPr>
        <p:spPr>
          <a:xfrm>
            <a:off x="6284755" y="461734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Auditable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84755" y="502602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actions are recorded</a:t>
            </a:r>
            <a:endParaRPr lang="en-US" sz="1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E6E4B13-8426-D37D-1C8A-F48F15EC9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531" y="6372157"/>
            <a:ext cx="1762371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19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Recruitment Challenge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61475" y="2540595"/>
            <a:ext cx="1816055" cy="287139"/>
          </a:xfrm>
          <a:prstGeom prst="roundRect">
            <a:avLst>
              <a:gd name="adj" fmla="val 7899"/>
            </a:avLst>
          </a:prstGeom>
          <a:solidFill>
            <a:srgbClr val="110745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597249"/>
            <a:ext cx="21988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SPACE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52986"/>
            <a:ext cx="3277709" cy="18203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467398"/>
            <a:ext cx="274729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Volume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77479" y="3951684"/>
            <a:ext cx="274729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Hundreds of resumes per role create an unsustainable screening workload.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6691" y="3252986"/>
            <a:ext cx="3390914" cy="15179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22694" y="3467398"/>
            <a:ext cx="2860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Transparency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722694" y="3951684"/>
            <a:ext cx="2860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Recruiters need evidence for fit, not just a ranked list.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5112" y="3252986"/>
            <a:ext cx="3277709" cy="18203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81116" y="3467398"/>
            <a:ext cx="274729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Privacy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8581116" y="3951684"/>
            <a:ext cx="274729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PII must be protected and tightly controlled.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6827F1-5DFD-FC9E-F42E-1829E7158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6157" y="6308841"/>
            <a:ext cx="1762371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972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Platform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61475" y="1322487"/>
            <a:ext cx="1670504" cy="228898"/>
          </a:xfrm>
          <a:prstGeom prst="roundRect">
            <a:avLst>
              <a:gd name="adj" fmla="val 7896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1762" y="1367631"/>
            <a:ext cx="2099515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PLATFORM ROLES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86322"/>
            <a:ext cx="376526" cy="3765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016" y="1686322"/>
            <a:ext cx="472408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Recruiter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016" y="2041624"/>
            <a:ext cx="4724083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jobs, defines requirements, configures weights, reviews ranked candidates, inspects evidence, and makes the final hiring decision.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31120"/>
            <a:ext cx="376526" cy="3765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016" y="2931120"/>
            <a:ext cx="472408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Candidate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88016" y="3286423"/>
            <a:ext cx="4724083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profile, uploads resume, applies for jobs, and tracks application status throughout the process.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959423"/>
            <a:ext cx="376526" cy="3765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016" y="3959423"/>
            <a:ext cx="472408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Admin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188016" y="4314726"/>
            <a:ext cx="4724083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platform operations and system access across all user types.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85946" y="1322487"/>
            <a:ext cx="2054372" cy="228898"/>
          </a:xfrm>
          <a:prstGeom prst="roundRect">
            <a:avLst>
              <a:gd name="adj" fmla="val 7896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76233" y="1367631"/>
            <a:ext cx="2483383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8-STEP WORKFLOW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285946" y="1686322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85946" y="1923157"/>
            <a:ext cx="52506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8" name="Text 13"/>
          <p:cNvSpPr/>
          <p:nvPr/>
        </p:nvSpPr>
        <p:spPr>
          <a:xfrm>
            <a:off x="6285946" y="2036564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Job Creation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85946" y="2391866"/>
            <a:ext cx="525062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creates job and defines structured requirements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85946" y="2841228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85946" y="3078063"/>
            <a:ext cx="52506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2" name="Text 17"/>
          <p:cNvSpPr/>
          <p:nvPr/>
        </p:nvSpPr>
        <p:spPr>
          <a:xfrm>
            <a:off x="6285946" y="3191470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NLP Extraction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85946" y="3546773"/>
            <a:ext cx="525062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Skills, qualifications, and experience extracted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85946" y="3996134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85946" y="4232970"/>
            <a:ext cx="52506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6" name="Text 21"/>
          <p:cNvSpPr/>
          <p:nvPr/>
        </p:nvSpPr>
        <p:spPr>
          <a:xfrm>
            <a:off x="6285946" y="4346377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Semantic Retrieval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285946" y="4701679"/>
            <a:ext cx="525062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resume evidence retrieved via semantic search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85946" y="5151041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285946" y="5387876"/>
            <a:ext cx="5250624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30" name="Text 25"/>
          <p:cNvSpPr/>
          <p:nvPr/>
        </p:nvSpPr>
        <p:spPr>
          <a:xfrm>
            <a:off x="6285946" y="5501283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Human Decision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285946" y="5856585"/>
            <a:ext cx="525062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makes the final hiring decision</a:t>
            </a: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3B5C0DB-24E9-5EDB-EE4D-1ED8BE52C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6158" y="6304512"/>
            <a:ext cx="1835842" cy="5060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Proposed System Architecture: Modular Monolith + Async AI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75701" y="1700824"/>
            <a:ext cx="1467112" cy="196241"/>
          </a:xfrm>
          <a:prstGeom prst="roundRect">
            <a:avLst>
              <a:gd name="adj" fmla="val 7906"/>
            </a:avLst>
          </a:prstGeom>
          <a:solidFill>
            <a:srgbClr val="110745"/>
          </a:solidFill>
          <a:ln/>
        </p:spPr>
      </p:sp>
      <p:sp>
        <p:nvSpPr>
          <p:cNvPr id="5" name="Text 2"/>
          <p:cNvSpPr/>
          <p:nvPr/>
        </p:nvSpPr>
        <p:spPr>
          <a:xfrm>
            <a:off x="6534140" y="1729994"/>
            <a:ext cx="1408673" cy="8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PORTALS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75701" y="1989801"/>
            <a:ext cx="2288738" cy="1603211"/>
          </a:xfrm>
          <a:prstGeom prst="roundRect">
            <a:avLst>
              <a:gd name="adj" fmla="val 2308"/>
            </a:avLst>
          </a:prstGeom>
          <a:solidFill>
            <a:srgbClr val="4C5052"/>
          </a:solidFill>
          <a:ln/>
        </p:spPr>
      </p:sp>
      <p:sp>
        <p:nvSpPr>
          <p:cNvPr id="7" name="Text 4"/>
          <p:cNvSpPr/>
          <p:nvPr/>
        </p:nvSpPr>
        <p:spPr>
          <a:xfrm>
            <a:off x="6573132" y="2022647"/>
            <a:ext cx="24377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Recruiter Portal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73132" y="2251885"/>
            <a:ext cx="2437744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1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·</a:t>
            </a:r>
          </a:p>
          <a:p>
            <a:pPr marL="171450" indent="-171450" algn="l">
              <a:lnSpc>
                <a:spcPct val="101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management </a:t>
            </a:r>
          </a:p>
          <a:p>
            <a:pPr marL="171450" indent="-171450" algn="l">
              <a:lnSpc>
                <a:spcPct val="101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Candidate ranking Inspector </a:t>
            </a:r>
          </a:p>
          <a:p>
            <a:pPr marL="171450" indent="-171450" algn="l">
              <a:lnSpc>
                <a:spcPct val="101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Comparison tool  </a:t>
            </a:r>
          </a:p>
          <a:p>
            <a:pPr marL="171450" indent="-171450" algn="l">
              <a:lnSpc>
                <a:spcPct val="101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 simulator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994945" y="2005814"/>
            <a:ext cx="2720157" cy="1587197"/>
          </a:xfrm>
          <a:prstGeom prst="roundRect">
            <a:avLst>
              <a:gd name="adj" fmla="val 2308"/>
            </a:avLst>
          </a:prstGeom>
          <a:solidFill>
            <a:srgbClr val="4C5052"/>
          </a:solidFill>
          <a:ln/>
        </p:spPr>
        <p:txBody>
          <a:bodyPr/>
          <a:lstStyle/>
          <a:p>
            <a:endParaRPr lang="en-IN" sz="2000" dirty="0"/>
          </a:p>
        </p:txBody>
      </p:sp>
      <p:sp>
        <p:nvSpPr>
          <p:cNvPr id="10" name="Text 7"/>
          <p:cNvSpPr/>
          <p:nvPr/>
        </p:nvSpPr>
        <p:spPr>
          <a:xfrm>
            <a:off x="9092377" y="2055033"/>
            <a:ext cx="2437843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Applicant Portal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092477" y="2358184"/>
            <a:ext cx="2437843" cy="1998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01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</a:t>
            </a:r>
          </a:p>
          <a:p>
            <a:pPr marL="171450" indent="-171450" algn="l">
              <a:lnSpc>
                <a:spcPct val="101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Resume upload </a:t>
            </a:r>
          </a:p>
          <a:p>
            <a:pPr marL="171450" indent="-171450" algn="l">
              <a:lnSpc>
                <a:spcPct val="101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Applications </a:t>
            </a:r>
          </a:p>
          <a:p>
            <a:pPr marL="171450" indent="-171450" algn="l">
              <a:lnSpc>
                <a:spcPct val="101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Status tracking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492FC7-19AC-2DBC-1779-D3D2FF312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629" y="6334121"/>
            <a:ext cx="1762371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458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AI/NLP + Semantic Retrieval Pipeline: Resume to Evidence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98752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3631568"/>
            <a:ext cx="1737114" cy="91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Skill Normalization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341783" y="378441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Embedding &amp; Retrieval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52827" y="378441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Entity Extraction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320397" y="378441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Document Processing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61474" y="4889699"/>
            <a:ext cx="1534480" cy="186532"/>
          </a:xfrm>
          <a:prstGeom prst="roundRect">
            <a:avLst>
              <a:gd name="adj" fmla="val 7908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3485" y="4950321"/>
            <a:ext cx="1472469" cy="9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ROLES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1475" y="5139730"/>
            <a:ext cx="2674771" cy="555129"/>
          </a:xfrm>
          <a:prstGeom prst="roundRect">
            <a:avLst>
              <a:gd name="adj" fmla="val 2793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459" y="5255716"/>
            <a:ext cx="2442804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Docling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459" y="5450979"/>
            <a:ext cx="2442804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Layout-preserving document parsing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92700" y="5139730"/>
            <a:ext cx="2674871" cy="555129"/>
          </a:xfrm>
          <a:prstGeom prst="roundRect">
            <a:avLst>
              <a:gd name="adj" fmla="val 2793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08684" y="5255716"/>
            <a:ext cx="244290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GLiNER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08684" y="5450979"/>
            <a:ext cx="2442903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Zero-shot named entity recognition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24025" y="5139730"/>
            <a:ext cx="2674871" cy="555129"/>
          </a:xfrm>
          <a:prstGeom prst="roundRect">
            <a:avLst>
              <a:gd name="adj" fmla="val 2793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40009" y="5255716"/>
            <a:ext cx="244290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BGE-M3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40009" y="5450979"/>
            <a:ext cx="2442903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dense embeddings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55350" y="5139730"/>
            <a:ext cx="2674871" cy="555129"/>
          </a:xfrm>
          <a:prstGeom prst="roundRect">
            <a:avLst>
              <a:gd name="adj" fmla="val 2793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71333" y="5255716"/>
            <a:ext cx="244290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pgvector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71333" y="5450979"/>
            <a:ext cx="2442903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similarity search in PostgreSQL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61475" y="5751314"/>
            <a:ext cx="10868745" cy="555129"/>
          </a:xfrm>
          <a:prstGeom prst="roundRect">
            <a:avLst>
              <a:gd name="adj" fmla="val 2793"/>
            </a:avLst>
          </a:prstGeom>
          <a:solidFill>
            <a:srgbClr val="2D3133"/>
          </a:solidFill>
          <a:ln w="12700">
            <a:solidFill>
              <a:srgbClr val="6569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459" y="5867301"/>
            <a:ext cx="1063677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RapidFuzz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77459" y="6062563"/>
            <a:ext cx="10636778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Fuzzy string matching &amp; skill normalization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A107FA7-B406-C3DD-35B3-9496D2B25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629" y="6340276"/>
            <a:ext cx="1762371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141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Deterministic Scoring &amp; Transparent Ranking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455043"/>
            <a:ext cx="2341504" cy="27811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1307" y="1509911"/>
            <a:ext cx="2731424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SCORING FORMULA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36105" y="2132211"/>
            <a:ext cx="11203699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= (W</a:t>
            </a:r>
            <a:r>
              <a:rPr lang="en-US" sz="1400" b="1" i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skills</a:t>
            </a:r>
            <a:r>
              <a:rPr 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× S</a:t>
            </a:r>
            <a:r>
              <a:rPr lang="en-US" sz="1400" b="1" i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skills</a:t>
            </a:r>
            <a:r>
              <a:rPr 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+ (W</a:t>
            </a:r>
            <a:r>
              <a:rPr lang="en-US" sz="1400" b="1" i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</a:t>
            </a:r>
            <a:r>
              <a:rPr 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× S</a:t>
            </a:r>
            <a:r>
              <a:rPr lang="en-US" sz="1400" b="1" i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</a:t>
            </a:r>
            <a:r>
              <a:rPr 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+ (W</a:t>
            </a:r>
            <a:r>
              <a:rPr lang="en-US" sz="1400" b="1" i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</a:t>
            </a:r>
            <a:r>
              <a:rPr 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× S</a:t>
            </a:r>
            <a:r>
              <a:rPr lang="en-US" sz="1400" b="1" i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</a:t>
            </a:r>
            <a:r>
              <a:rPr 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+ (W</a:t>
            </a:r>
            <a:r>
              <a:rPr lang="en-US" sz="1400" b="1" i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</a:t>
            </a:r>
            <a:r>
              <a:rPr 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× S</a:t>
            </a:r>
            <a:r>
              <a:rPr lang="en-US" sz="1400" b="1" i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</a:t>
            </a:r>
            <a:r>
              <a:rPr 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1932682"/>
            <a:ext cx="25399" cy="687487"/>
          </a:xfrm>
          <a:prstGeom prst="roundRect">
            <a:avLst>
              <a:gd name="adj" fmla="val 50001"/>
            </a:avLst>
          </a:prstGeom>
          <a:solidFill>
            <a:srgbClr val="AC9EF5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819698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weights must sum to exactly 100%. Recruiters configure weights via the Weight Simulator in the recruiter dashboard.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1475" y="3307655"/>
            <a:ext cx="2293582" cy="27811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1307" y="3362523"/>
            <a:ext cx="2683502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SCORING DIMENSIONS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1475" y="3785295"/>
            <a:ext cx="10868745" cy="1339751"/>
          </a:xfrm>
          <a:prstGeom prst="rect">
            <a:avLst/>
          </a:prstGeom>
          <a:noFill/>
          <a:ln/>
        </p:spPr>
        <p:txBody>
          <a:bodyPr wrap="square" lIns="0" tIns="73245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5324574"/>
            <a:ext cx="10868745" cy="1005284"/>
          </a:xfrm>
          <a:prstGeom prst="roundRect">
            <a:avLst>
              <a:gd name="adj" fmla="val 2732"/>
            </a:avLst>
          </a:prstGeom>
          <a:solidFill>
            <a:srgbClr val="1D0C74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9" y="5577880"/>
            <a:ext cx="228793" cy="1830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56376" y="5547618"/>
            <a:ext cx="1009079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Deterministic rules govern the final ranking.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Semantic retrieval and NLP provide the evidence inputs — they do not replace the scoring logic.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6AE869-FB63-2BF9-772C-9D57314D9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248" y="6504101"/>
            <a:ext cx="1283752" cy="353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8242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Software Engineering Foundation &amp; Current Status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785144"/>
            <a:ext cx="5345673" cy="2595463"/>
          </a:xfrm>
          <a:prstGeom prst="roundRect">
            <a:avLst>
              <a:gd name="adj" fmla="val 1058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844529" y="1968202"/>
            <a:ext cx="49795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✓ Frontend — Complete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4529" y="2360613"/>
            <a:ext cx="4979565" cy="183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15.5 · React 19 · TypeScript · Tailwind CSS v4 · Zustand · Framer Motion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dashboard, job management, candidate ranking, inspector, comparison, weight simulator; Applicant portal, theme system, motion system, service/mock architecture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4448" y="1785144"/>
            <a:ext cx="5345773" cy="2595463"/>
          </a:xfrm>
          <a:prstGeom prst="roundRect">
            <a:avLst>
              <a:gd name="adj" fmla="val 1058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6367502" y="1968202"/>
            <a:ext cx="497966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◑ Backend API — In Progress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67502" y="2360613"/>
            <a:ext cx="4979664" cy="155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3.11+ · FastAPI · Pydantic v2 · SQLAlchemy 2.0 · JWT · RBAC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development, domain services, and business logic under active development; Frontend 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backend integration in progress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4557911"/>
            <a:ext cx="10868745" cy="1441748"/>
          </a:xfrm>
          <a:prstGeom prst="roundRect">
            <a:avLst>
              <a:gd name="adj" fmla="val 1905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844529" y="4740970"/>
            <a:ext cx="105026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◑ AI/NLP Workers — Next Phase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4529" y="5133380"/>
            <a:ext cx="10502637" cy="68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Redis/Celery worker setup; Docling, GLiNER, RapidFuzz, BGE-M3 integration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retrieval implementation and end-to-end testing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234A47-9AB7-59A5-BF6D-80FA67190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331" y="6372157"/>
            <a:ext cx="1762371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CareerSync AI: Evidence Before Decisions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4" y="909538"/>
            <a:ext cx="1512055" cy="143470"/>
          </a:xfrm>
          <a:prstGeom prst="roundRect">
            <a:avLst>
              <a:gd name="adj" fmla="val 7905"/>
            </a:avLst>
          </a:prstGeom>
          <a:solidFill>
            <a:srgbClr val="110745"/>
          </a:solidFill>
          <a:ln/>
        </p:spPr>
      </p:sp>
      <p:sp>
        <p:nvSpPr>
          <p:cNvPr id="4" name="Text 2"/>
          <p:cNvSpPr/>
          <p:nvPr/>
        </p:nvSpPr>
        <p:spPr>
          <a:xfrm>
            <a:off x="718127" y="937816"/>
            <a:ext cx="1455403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CORE PRINCIPLES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109" y="1276513"/>
            <a:ext cx="236234" cy="23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109" y="1571788"/>
            <a:ext cx="3697571" cy="402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Explainable</a:t>
            </a:r>
            <a:endParaRPr lang="en-US" sz="1050" b="1" dirty="0"/>
          </a:p>
        </p:txBody>
      </p:sp>
      <p:sp>
        <p:nvSpPr>
          <p:cNvPr id="7" name="Text 4"/>
          <p:cNvSpPr/>
          <p:nvPr/>
        </p:nvSpPr>
        <p:spPr>
          <a:xfrm>
            <a:off x="600109" y="1747702"/>
            <a:ext cx="3583493" cy="411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evaluation connects back to a specific resume evidence snippet with page and section reference</a:t>
            </a:r>
            <a:endParaRPr lang="en-US" sz="1050" b="1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5201" y="1208186"/>
            <a:ext cx="236234" cy="236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5201" y="1503460"/>
            <a:ext cx="35835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Deterministic</a:t>
            </a:r>
            <a:endParaRPr lang="en-US" sz="1050" b="1" dirty="0"/>
          </a:p>
        </p:txBody>
      </p:sp>
      <p:sp>
        <p:nvSpPr>
          <p:cNvPr id="10" name="Text 6"/>
          <p:cNvSpPr/>
          <p:nvPr/>
        </p:nvSpPr>
        <p:spPr>
          <a:xfrm>
            <a:off x="4475201" y="1679375"/>
            <a:ext cx="3583592" cy="453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Explicit, auditable scoring rules make candidate evaluation reproducible across runs</a:t>
            </a:r>
            <a:endParaRPr lang="en-US" sz="1050" b="1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871" y="4542281"/>
            <a:ext cx="236234" cy="236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0871" y="4942561"/>
            <a:ext cx="3736809" cy="393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Human-in-the-Loop</a:t>
            </a:r>
            <a:endParaRPr lang="en-US" sz="1050" b="1" dirty="0"/>
          </a:p>
        </p:txBody>
      </p:sp>
      <p:sp>
        <p:nvSpPr>
          <p:cNvPr id="13" name="Text 8"/>
          <p:cNvSpPr/>
          <p:nvPr/>
        </p:nvSpPr>
        <p:spPr>
          <a:xfrm>
            <a:off x="560870" y="5118476"/>
            <a:ext cx="4061929" cy="744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provides decision support; the recruiter retains complete final authority over every hiring decision</a:t>
            </a:r>
            <a:endParaRPr lang="en-US" sz="1050" b="1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109" y="2312121"/>
            <a:ext cx="236234" cy="2362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0109" y="2607395"/>
            <a:ext cx="3583493" cy="296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Privacy-Aware</a:t>
            </a:r>
            <a:endParaRPr lang="en-US" sz="1050" b="1" dirty="0"/>
          </a:p>
        </p:txBody>
      </p:sp>
      <p:sp>
        <p:nvSpPr>
          <p:cNvPr id="16" name="Text 10"/>
          <p:cNvSpPr/>
          <p:nvPr/>
        </p:nvSpPr>
        <p:spPr>
          <a:xfrm>
            <a:off x="600109" y="2783310"/>
            <a:ext cx="3697571" cy="39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Mode and controlled PII reveal minimize unnecessary exposure of candidate identity</a:t>
            </a:r>
            <a:endParaRPr lang="en-US" sz="1050" b="1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010" y="3617047"/>
            <a:ext cx="236234" cy="2362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3290" y="3853286"/>
            <a:ext cx="3704390" cy="494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Auditable</a:t>
            </a:r>
            <a:endParaRPr lang="en-US" sz="1050" b="1" dirty="0"/>
          </a:p>
        </p:txBody>
      </p:sp>
      <p:sp>
        <p:nvSpPr>
          <p:cNvPr id="19" name="Text 12"/>
          <p:cNvSpPr/>
          <p:nvPr/>
        </p:nvSpPr>
        <p:spPr>
          <a:xfrm>
            <a:off x="600009" y="3991947"/>
            <a:ext cx="4061929" cy="891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actions — including PII reveal — are logged in the AuditTrail for accountability</a:t>
            </a:r>
            <a:endParaRPr lang="en-US" sz="1050" b="1" dirty="0"/>
          </a:p>
        </p:txBody>
      </p:sp>
      <p:sp>
        <p:nvSpPr>
          <p:cNvPr id="21" name="Text 14"/>
          <p:cNvSpPr/>
          <p:nvPr/>
        </p:nvSpPr>
        <p:spPr>
          <a:xfrm>
            <a:off x="600109" y="3107705"/>
            <a:ext cx="1541226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COMPLETE PIPELINE</a:t>
            </a:r>
            <a:endParaRPr lang="en-US" sz="1050" b="1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6614228" y="1159929"/>
            <a:ext cx="6217797" cy="413963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919294" y="1974516"/>
            <a:ext cx="1607664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Resume &amp; Requirements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8199678" y="5294460"/>
            <a:ext cx="1306631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9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B9F91D-2324-2854-6D8E-024806361143}"/>
              </a:ext>
            </a:extLst>
          </p:cNvPr>
          <p:cNvSpPr txBox="1"/>
          <p:nvPr/>
        </p:nvSpPr>
        <p:spPr>
          <a:xfrm>
            <a:off x="9019740" y="4908221"/>
            <a:ext cx="1317685" cy="692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Semantic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Retrieval</a:t>
            </a:r>
            <a:endParaRPr lang="en-US" sz="1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F962F0-6673-D50B-7211-BC74D80ABE84}"/>
              </a:ext>
            </a:extLst>
          </p:cNvPr>
          <p:cNvSpPr txBox="1"/>
          <p:nvPr/>
        </p:nvSpPr>
        <p:spPr>
          <a:xfrm>
            <a:off x="8976650" y="3229748"/>
            <a:ext cx="1492955" cy="692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Human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Decision</a:t>
            </a:r>
            <a:endParaRPr lang="en-US" sz="1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CBDC3DD-672E-A312-3C25-17B11138EA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425" y="6337296"/>
            <a:ext cx="1762371" cy="4858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586</Words>
  <Application>Microsoft Office PowerPoint</Application>
  <PresentationFormat>Widescreen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Inter Bold</vt:lpstr>
      <vt:lpstr>DM Sans Light</vt:lpstr>
      <vt:lpstr>Inter</vt:lpstr>
      <vt:lpstr>DM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Hit Goyani</cp:lastModifiedBy>
  <cp:revision>7</cp:revision>
  <dcterms:created xsi:type="dcterms:W3CDTF">2026-08-13T14:39:59Z</dcterms:created>
  <dcterms:modified xsi:type="dcterms:W3CDTF">2026-08-13T15:10:16Z</dcterms:modified>
</cp:coreProperties>
</file>